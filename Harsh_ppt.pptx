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Retained</c:v>
                </c:pt>
                <c:pt idx="1">
                  <c:v>Dropout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67996</c:v>
                </c:pt>
                <c:pt idx="1">
                  <c:v>32004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CB-4835-BE32-DA921348FDED}"/>
            </c:ext>
          </c:extLst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b"/>
      <c:overlay val="1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Dropout rate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Low</c:v>
                </c:pt>
                <c:pt idx="2">
                  <c:v>Middle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0.19989590839939148</c:v>
                </c:pt>
                <c:pt idx="1">
                  <c:v>0.42919934499698353</c:v>
                </c:pt>
                <c:pt idx="2">
                  <c:v>0.30017655981896402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C8-4917-AEC0-A89014CCDC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Dropout rate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Law &amp; Social Sciences</c:v>
                </c:pt>
                <c:pt idx="1">
                  <c:v>Business</c:v>
                </c:pt>
                <c:pt idx="2">
                  <c:v>Arts &amp; Humanities</c:v>
                </c:pt>
                <c:pt idx="3">
                  <c:v>Health Sciences</c:v>
                </c:pt>
                <c:pt idx="4">
                  <c:v>STEM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0.31692979509573393</c:v>
                </c:pt>
                <c:pt idx="1">
                  <c:v>0.3184583366685344</c:v>
                </c:pt>
                <c:pt idx="2">
                  <c:v>0.32101642254771418</c:v>
                </c:pt>
                <c:pt idx="3">
                  <c:v>0.32112977712335183</c:v>
                </c:pt>
                <c:pt idx="4">
                  <c:v>0.32145582429249198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FB-4001-9547-9A7817F933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Dropout rate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Part-time</c:v>
                </c:pt>
                <c:pt idx="1">
                  <c:v>Full-time</c:v>
                </c:pt>
                <c:pt idx="2">
                  <c:v>Online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0.33665529010238909</c:v>
                </c:pt>
                <c:pt idx="1">
                  <c:v>0.3199889394125599</c:v>
                </c:pt>
                <c:pt idx="2">
                  <c:v>0.29205661690772683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E1-4B28-AC87-35E0E30DCD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Dropout rate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Tuition not up to date</c:v>
                </c:pt>
                <c:pt idx="1">
                  <c:v>Tuition up to date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0.44222366830900811</c:v>
                </c:pt>
                <c:pt idx="1">
                  <c:v>0.28654791937415591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CE-4621-B011-CD044F6EFA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664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412480" y="731520"/>
            <a:ext cx="2926080" cy="10972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61120" y="1005840"/>
            <a:ext cx="2377440" cy="10972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509760" y="1280160"/>
            <a:ext cx="1828800" cy="1097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ptos"/>
              </a:defRPr>
            </a:pPr>
            <a:r>
              <a:rPr dirty="0"/>
              <a:t>Student Dropout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0584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0">
                <a:solidFill>
                  <a:srgbClr val="CDE0F2"/>
                </a:solidFill>
                <a:latin typeface="Aptos"/>
              </a:defRPr>
            </a:pPr>
            <a:r>
              <a:rPr dirty="0"/>
              <a:t>Student Profile &amp; Risk Indicator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989320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DE0F2"/>
                </a:solidFill>
                <a:latin typeface="Aptos"/>
              </a:defRPr>
            </a:pPr>
            <a:r>
              <a:rPr lang="en-US" sz="2000" dirty="0"/>
              <a:t>Project By : Harshad Shinde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65D"/>
                </a:solidFill>
                <a:latin typeface="Aptos"/>
              </a:defRPr>
            </a:pPr>
            <a:r>
              <a:t>Source Data — Student Dropout Risk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673"/>
                </a:solidFill>
                <a:latin typeface="Aptos"/>
              </a:defRPr>
            </a:pPr>
            <a:r>
              <a:t>Overview of the dataset used for every summary, chart and dashboard visual.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25296"/>
            <a:ext cx="1097280" cy="457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67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F75B5"/>
                </a:solidFill>
                <a:latin typeface="Aptos"/>
              </a:defRPr>
            </a:pPr>
            <a:r>
              <a:t>DATA 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7365D"/>
                </a:solidFill>
                <a:latin typeface="Aptos"/>
              </a:defRPr>
            </a:pPr>
            <a:r>
              <a:t>100,000 student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F75B5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673"/>
                </a:solidFill>
                <a:latin typeface="Aptos"/>
              </a:defRPr>
            </a:pPr>
            <a:r>
              <a:t>person_id • age • gender • nationality • first_generation • family_income_level • course_type • study_mode • academic results • attendance • wellbeing indicators • dropout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F75B5"/>
                </a:solidFill>
                <a:latin typeface="Aptos"/>
              </a:defRPr>
            </a:pPr>
            <a:r>
              <a:t>QUICK STATS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920240"/>
            <a:ext cx="5120640" cy="713232"/>
          </a:xfrm>
          <a:prstGeom prst="roundRect">
            <a:avLst/>
          </a:prstGeom>
          <a:solidFill>
            <a:srgbClr val="F3F6FA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35040" y="20299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673"/>
                </a:solidFill>
                <a:latin typeface="Aptos"/>
              </a:defRPr>
            </a:pPr>
            <a:r>
              <a:t>Students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9933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7365D"/>
                </a:solidFill>
                <a:latin typeface="Aptos"/>
              </a:defRPr>
            </a:pPr>
            <a:r>
              <a:t>100,000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2834640"/>
            <a:ext cx="5120640" cy="713232"/>
          </a:xfrm>
          <a:prstGeom prst="roundRect">
            <a:avLst/>
          </a:prstGeom>
          <a:solidFill>
            <a:srgbClr val="F3F6FA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40" y="29443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673"/>
                </a:solidFill>
                <a:latin typeface="Aptos"/>
              </a:defRPr>
            </a:pPr>
            <a:r>
              <a:t>Dropout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9077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7365D"/>
                </a:solidFill>
                <a:latin typeface="Aptos"/>
              </a:defRPr>
            </a:pPr>
            <a:r>
              <a:t>32,004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3749039"/>
            <a:ext cx="5120640" cy="713232"/>
          </a:xfrm>
          <a:prstGeom prst="roundRect">
            <a:avLst/>
          </a:prstGeom>
          <a:solidFill>
            <a:srgbClr val="F3F6FA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35040" y="38587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673"/>
                </a:solidFill>
                <a:latin typeface="Aptos"/>
              </a:defRPr>
            </a:pPr>
            <a:r>
              <a:t>Retained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822191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7365D"/>
                </a:solidFill>
                <a:latin typeface="Aptos"/>
              </a:defRPr>
            </a:pPr>
            <a:r>
              <a:t>67,996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4663440"/>
            <a:ext cx="5120640" cy="713232"/>
          </a:xfrm>
          <a:prstGeom prst="roundRect">
            <a:avLst/>
          </a:prstGeom>
          <a:solidFill>
            <a:srgbClr val="F3F6FA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35040" y="47731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673"/>
                </a:solidFill>
                <a:latin typeface="Aptos"/>
              </a:defRPr>
            </a:pPr>
            <a:r>
              <a:t>Dropout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7365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7365D"/>
                </a:solidFill>
                <a:latin typeface="Aptos"/>
              </a:defRPr>
            </a:pPr>
            <a:r>
              <a:t>32.0%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A6A6"/>
                </a:solidFill>
                <a:latin typeface="Aptos"/>
              </a:defRPr>
            </a:pPr>
            <a:r>
              <a:t>The source contains student-level records. Binary fields use 1/0 coding where indicated.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65D"/>
                </a:solidFill>
                <a:latin typeface="Aptos"/>
              </a:defRPr>
            </a:pPr>
            <a:r>
              <a:t>Student Dropout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673"/>
                </a:solidFill>
                <a:latin typeface="Aptos"/>
              </a:defRPr>
            </a:pPr>
            <a:r>
              <a:t>32.0% of records are labeled as dropout; 68.0% are retained.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25296"/>
            <a:ext cx="1097280" cy="457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673"/>
                </a:solidFill>
                <a:latin typeface="Aptos"/>
              </a:defRPr>
            </a:pPr>
            <a:r>
              <a:t>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508760"/>
          <a:ext cx="49377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26480" y="1691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7365D"/>
                </a:solidFill>
                <a:latin typeface="Aptos"/>
              </a:defRPr>
            </a:pPr>
            <a:r>
              <a:t>Outcome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A6673"/>
                </a:solidFill>
                <a:latin typeface="Aptos"/>
              </a:defRPr>
            </a:pPr>
            <a:r>
              <a:t>Retained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331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900" b="1">
                <a:solidFill>
                  <a:srgbClr val="17365D"/>
                </a:solidFill>
                <a:latin typeface="Aptos"/>
              </a:defRPr>
            </a:pPr>
            <a:r>
              <a:t>67,996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7157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A6A6"/>
                </a:solidFill>
                <a:latin typeface="Aptos"/>
              </a:defRPr>
            </a:pPr>
            <a:r>
              <a:t>68.0% of all student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474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A6673"/>
                </a:solidFill>
                <a:latin typeface="Aptos"/>
              </a:defRPr>
            </a:pPr>
            <a:r>
              <a:t>Dropout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474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900" b="1">
                <a:solidFill>
                  <a:srgbClr val="17365D"/>
                </a:solidFill>
                <a:latin typeface="Aptos"/>
              </a:defRPr>
            </a:pPr>
            <a:r>
              <a:t>32,004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8587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A6A6"/>
                </a:solidFill>
                <a:latin typeface="Aptos"/>
              </a:defRPr>
            </a:pPr>
            <a:r>
              <a:t>32.0% of all student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064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673"/>
                </a:solidFill>
                <a:latin typeface="Aptos"/>
              </a:defRPr>
            </a:pPr>
            <a:r>
              <a:t>Note: this is a descriptive summary of the dataset, not a prediction model or causal conclusion.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65D"/>
                </a:solidFill>
                <a:latin typeface="Aptos"/>
              </a:defRPr>
            </a:pPr>
            <a:r>
              <a:t>Dropout Risk by Family Income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673"/>
                </a:solidFill>
                <a:latin typeface="Aptos"/>
              </a:defRPr>
            </a:pPr>
            <a:r>
              <a:t>Family income is associated with noticeably different dropout rates in this dataset.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1097280" cy="457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673"/>
                </a:solidFill>
                <a:latin typeface="Aptos"/>
              </a:defRPr>
            </a:pPr>
            <a:r>
              <a:t>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508760"/>
          <a:ext cx="65836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365D"/>
                </a:solidFill>
                <a:latin typeface="Aptos"/>
              </a:defRPr>
            </a:pPr>
            <a:r>
              <a:t>Dropout rate by income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2402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A6673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22402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ED7D31"/>
                </a:solidFill>
                <a:latin typeface="Aptos"/>
              </a:defRPr>
            </a:pPr>
            <a:r>
              <a:t>1494000.0%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0175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A6673"/>
                </a:solidFill>
                <a:latin typeface="Aptos"/>
              </a:defRPr>
            </a:pPr>
            <a:r>
              <a:t>Middle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3017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17365D"/>
                </a:solidFill>
                <a:latin typeface="Aptos"/>
              </a:defRPr>
            </a:pPr>
            <a:r>
              <a:t>1207100.0%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794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A6673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3794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17365D"/>
                </a:solidFill>
                <a:latin typeface="Aptos"/>
              </a:defRPr>
            </a:pPr>
            <a:r>
              <a:t>499300.0%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A6A6"/>
                </a:solidFill>
                <a:latin typeface="Aptos"/>
              </a:defRPr>
            </a:pPr>
            <a:r>
              <a:t>Insight: low-income group dropout rate is 42.9%, compared with 20.0% for the high-income group.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65D"/>
                </a:solidFill>
                <a:latin typeface="Aptos"/>
              </a:defRPr>
            </a:pPr>
            <a:r>
              <a:t>Dropout Rate by Course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673"/>
                </a:solidFill>
                <a:latin typeface="Aptos"/>
              </a:defRPr>
            </a:pPr>
            <a:r>
              <a:t>Compare the share of dropout-labeled records across course categories.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1097280" cy="457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673"/>
                </a:solidFill>
                <a:latin typeface="Aptos"/>
              </a:defRPr>
            </a:pPr>
            <a:r>
              <a:t>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508760"/>
          <a:ext cx="73152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0" y="1691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365D"/>
                </a:solidFill>
                <a:latin typeface="Aptos"/>
              </a:defRPr>
            </a:pPr>
            <a:r>
              <a:t>Course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19456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A6673"/>
                </a:solidFill>
                <a:latin typeface="Aptos"/>
              </a:defRPr>
            </a:pPr>
            <a:r>
              <a:t>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2194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7365D"/>
                </a:solidFill>
                <a:latin typeface="Aptos"/>
              </a:defRPr>
            </a:pPr>
            <a:r>
              <a:t>32.1%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834639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A6673"/>
                </a:solidFill>
                <a:latin typeface="Aptos"/>
              </a:defRPr>
            </a:pPr>
            <a:r>
              <a:t>Health Sciences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28346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7365D"/>
                </a:solidFill>
                <a:latin typeface="Aptos"/>
              </a:defRPr>
            </a:pPr>
            <a:r>
              <a:t>32.1%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47472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A6673"/>
                </a:solidFill>
                <a:latin typeface="Aptos"/>
              </a:defRPr>
            </a:pPr>
            <a:r>
              <a:t>Arts &amp; Humanities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3474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7365D"/>
                </a:solidFill>
                <a:latin typeface="Aptos"/>
              </a:defRPr>
            </a:pPr>
            <a:r>
              <a:t>32.1%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11480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A6673"/>
                </a:solidFill>
                <a:latin typeface="Aptos"/>
              </a:defRPr>
            </a:pPr>
            <a:r>
              <a:t>Business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4114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7365D"/>
                </a:solidFill>
                <a:latin typeface="Aptos"/>
              </a:defRPr>
            </a:pPr>
            <a:r>
              <a:t>31.8%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754879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A6673"/>
                </a:solidFill>
                <a:latin typeface="Aptos"/>
              </a:defRPr>
            </a:pPr>
            <a:r>
              <a:t>Law &amp; Social Sciences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475487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7365D"/>
                </a:solidFill>
                <a:latin typeface="Aptos"/>
              </a:defRPr>
            </a:pPr>
            <a:r>
              <a:t>31.7%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6A6"/>
                </a:solidFill>
                <a:latin typeface="Aptos"/>
              </a:defRPr>
            </a:pPr>
            <a:r>
              <a:t>Differences between course types are relatively small compared with the family-income gap.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65D"/>
                </a:solidFill>
                <a:latin typeface="Aptos"/>
              </a:defRPr>
            </a:pPr>
            <a:r>
              <a:t>Study Mode &amp; Tuition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673"/>
                </a:solidFill>
                <a:latin typeface="Aptos"/>
              </a:defRPr>
            </a:pPr>
            <a:r>
              <a:t>Two practical indicators that show different dropout rates in the dataset.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1097280" cy="457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673"/>
                </a:solidFill>
                <a:latin typeface="Aptos"/>
              </a:defRPr>
            </a:pPr>
            <a:r>
              <a:t>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554480"/>
          <a:ext cx="53035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217920" y="1554480"/>
          <a:ext cx="53035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8978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6A6"/>
                </a:solidFill>
                <a:latin typeface="Aptos"/>
              </a:defRPr>
            </a:pPr>
            <a:r>
              <a:t>Part-time: 33.7% dropout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8978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A6A6"/>
                </a:solidFill>
                <a:latin typeface="Aptos"/>
              </a:defRPr>
            </a:pPr>
            <a:r>
              <a:t>Tuition overdue: 44.2% vs current: 28.7%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65D"/>
                </a:solidFill>
                <a:latin typeface="Aptos"/>
              </a:defRPr>
            </a:pPr>
            <a:r>
              <a:t>Pivot Table vs Pivot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673"/>
                </a:solidFill>
                <a:latin typeface="Aptos"/>
              </a:defRPr>
            </a:pPr>
            <a:r>
              <a:t>How the source data is summarized and communicated.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25296"/>
            <a:ext cx="1097280" cy="457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673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365D"/>
                </a:solidFill>
                <a:latin typeface="Aptos"/>
              </a:defRPr>
            </a:pPr>
            <a:r>
              <a:t>What is a Pivot Table?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49377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673"/>
                </a:solidFill>
                <a:latin typeface="Aptos"/>
              </a:defRPr>
            </a:pPr>
            <a:r>
              <a:t>A pivot-style summary groups records by a field such as family income, course type or study mode, then calculates counts and dropout rates. It turns 100,000 rows into a compact comparison.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365D"/>
                </a:solidFill>
                <a:latin typeface="Aptos"/>
              </a:defRPr>
            </a:pPr>
            <a:r>
              <a:t>What is a Pivot Chart?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49377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673"/>
                </a:solidFill>
                <a:latin typeface="Aptos"/>
              </a:defRPr>
            </a:pPr>
            <a:r>
              <a:t>A chart presents the summary visually, making differences easier to spot. In the Excel workbook, the “pivottable” sheet contains the grouped summaries and the “dashboard” sheet includes charts.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75B5"/>
                </a:solidFill>
                <a:latin typeface="Aptos"/>
              </a:defRPr>
            </a:pPr>
            <a:r>
              <a:t>Example summary — dropout rate by family income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4343400"/>
          <a:ext cx="80467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Family income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Students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Dropout rate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65D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65D"/>
                          </a:solidFill>
                        </a:defRPr>
                      </a:pPr>
                      <a:r>
                        <a:t>24,978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65D"/>
                          </a:solidFill>
                        </a:defRPr>
                      </a:pPr>
                      <a: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65D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65D"/>
                          </a:solidFill>
                        </a:defRPr>
                      </a:pPr>
                      <a:r>
                        <a:t>34,809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65D"/>
                          </a:solidFill>
                        </a:defRPr>
                      </a:pPr>
                      <a:r>
                        <a:t>42.9%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65D"/>
                          </a:solidFill>
                        </a:defRPr>
                      </a:pPr>
                      <a:r>
                        <a:t>Middle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65D"/>
                          </a:solidFill>
                        </a:defRPr>
                      </a:pPr>
                      <a:r>
                        <a:t>40,213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65D"/>
                          </a:solidFill>
                        </a:defRPr>
                      </a:pPr>
                      <a:r>
                        <a:t>30.0%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65D"/>
                </a:solidFill>
                <a:latin typeface="Aptos"/>
              </a:defRPr>
            </a:pPr>
            <a:r>
              <a:t>Key Findings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77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673"/>
                </a:solidFill>
                <a:latin typeface="Aptos"/>
              </a:defRPr>
            </a:pPr>
            <a:r>
              <a:t>A concise summary of the strongest descriptive patterns in the dataset.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225296"/>
            <a:ext cx="1097280" cy="4572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A6673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698480" cy="868680"/>
          </a:xfrm>
          <a:prstGeom prst="roundRect">
            <a:avLst/>
          </a:prstGeom>
          <a:solidFill>
            <a:srgbClr val="F3F6FA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6184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75B5"/>
                </a:solidFill>
                <a:latin typeface="Aptos"/>
              </a:defRPr>
            </a:pPr>
            <a:r>
              <a:t>32.0% overall dropout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1848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673"/>
                </a:solidFill>
                <a:latin typeface="Aptos"/>
              </a:defRPr>
            </a:pPr>
            <a:r>
              <a:t>32,004 of 100,000 student records are labeled as dropout.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24328"/>
            <a:ext cx="10698480" cy="868680"/>
          </a:xfrm>
          <a:prstGeom prst="roundRect">
            <a:avLst/>
          </a:prstGeom>
          <a:solidFill>
            <a:srgbClr val="F3F6FA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73405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75B5"/>
                </a:solidFill>
                <a:latin typeface="Aptos"/>
              </a:defRPr>
            </a:pPr>
            <a:r>
              <a:t>Income gap: 22.9%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34056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673"/>
                </a:solidFill>
                <a:latin typeface="Aptos"/>
              </a:defRPr>
            </a:pPr>
            <a:r>
              <a:t>Low-income dropout rate is 42.9%; high-income rate is 20.0%.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39896"/>
            <a:ext cx="10698480" cy="868680"/>
          </a:xfrm>
          <a:prstGeom prst="roundRect">
            <a:avLst/>
          </a:prstGeom>
          <a:solidFill>
            <a:srgbClr val="F3F6FA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8496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75B5"/>
                </a:solidFill>
                <a:latin typeface="Aptos"/>
              </a:defRPr>
            </a:pPr>
            <a:r>
              <a:t>Tuition status: 44.2% vs 28.7%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849624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673"/>
                </a:solidFill>
                <a:latin typeface="Aptos"/>
              </a:defRPr>
            </a:pPr>
            <a:r>
              <a:t>Students whose tuition is not up to date have a higher observed dropout rate.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55464"/>
            <a:ext cx="10698480" cy="868680"/>
          </a:xfrm>
          <a:prstGeom prst="roundRect">
            <a:avLst/>
          </a:prstGeom>
          <a:solidFill>
            <a:srgbClr val="F3F6FA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9651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F75B5"/>
                </a:solidFill>
                <a:latin typeface="Aptos"/>
              </a:defRPr>
            </a:pPr>
            <a:r>
              <a:t>Use as an early-support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965192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673"/>
                </a:solidFill>
                <a:latin typeface="Aptos"/>
              </a:defRPr>
            </a:pPr>
            <a:r>
              <a:t>Review attendance, academic progress, missed deadlines and wellbeing indicators together; do not treat any one field as proof of cause.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17220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673"/>
                </a:solidFill>
                <a:latin typeface="Aptos"/>
              </a:defRPr>
            </a:pPr>
            <a:r>
              <a:t>All results are descriptive and reflect this dataset; further validation is needed before operational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538</Words>
  <Application>Microsoft Office PowerPoint</Application>
  <PresentationFormat>Widescreen</PresentationFormat>
  <Paragraphs>94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Abhinav</dc:creator>
  <cp:keywords/>
  <dc:description>generated using python-pptx</dc:description>
  <cp:lastModifiedBy>Abhinav Shirke</cp:lastModifiedBy>
  <cp:revision>2</cp:revision>
  <dcterms:created xsi:type="dcterms:W3CDTF">2013-01-27T09:14:16Z</dcterms:created>
  <dcterms:modified xsi:type="dcterms:W3CDTF">2026-10-14T16:20:00Z</dcterms:modified>
  <cp:category/>
</cp:coreProperties>
</file>